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1D6E6"/>
          </a:solidFill>
          <a:ln w="12700">
            <a:solidFill>
              <a:srgbClr val="41D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1216152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00" b="1" spc="200" kern="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 ATLAS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749808" y="22219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1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Distance-Guided Prime Search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58952" y="305409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formal mathematical and computational research proposal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9808" y="3931920"/>
            <a:ext cx="10515600" cy="0"/>
          </a:xfrm>
          <a:prstGeom prst="line">
            <a:avLst/>
          </a:prstGeom>
          <a:noFill/>
          <a:ln w="25400">
            <a:solidFill>
              <a:srgbClr val="3141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427939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BD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 wheels  •  modular phase discriminators  •  nearest-prime navigation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58952" y="61447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formulation |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1D6E6"/>
          </a:solidFill>
          <a:ln w="12700">
            <a:solidFill>
              <a:srgbClr val="41D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41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 ATLAS  /  RESEARCH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955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Question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12648" y="1444752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a modular wheel navigate toward the closest prime near a target magnitude while reducing candidate tests?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37392" y="6483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3816" y="2157984"/>
            <a:ext cx="10607040" cy="749808"/>
          </a:xfrm>
          <a:prstGeom prst="roundRect">
            <a:avLst>
              <a:gd name="adj" fmla="val 14634"/>
            </a:avLst>
          </a:prstGeom>
          <a:solidFill>
            <a:srgbClr val="151E32"/>
          </a:solidFill>
          <a:ln w="12700">
            <a:solidFill>
              <a:srgbClr val="314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267712"/>
            <a:ext cx="10277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1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p*(x) = arg min   |x − p|    (p prime)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22960" y="3310128"/>
            <a:ext cx="10561320" cy="1920240"/>
          </a:xfrm>
          <a:prstGeom prst="roundRect">
            <a:avLst>
              <a:gd name="adj" fmla="val 5714"/>
            </a:avLst>
          </a:prstGeom>
          <a:solidFill>
            <a:srgbClr val="151E32"/>
          </a:solidFill>
          <a:ln w="12700">
            <a:solidFill>
              <a:srgbClr val="3141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856" y="3694176"/>
            <a:ext cx="86868" cy="86868"/>
          </a:xfrm>
          <a:prstGeom prst="ellipse">
            <a:avLst/>
          </a:prstGeom>
          <a:solidFill>
            <a:srgbClr val="41D6E6"/>
          </a:solidFill>
          <a:ln w="12700">
            <a:solidFill>
              <a:srgbClr val="41D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62456" y="3593592"/>
            <a:ext cx="9720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task: return a nearest prime, resolving ties toward the smaller prime.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33856" y="4206240"/>
            <a:ext cx="86868" cy="86868"/>
          </a:xfrm>
          <a:prstGeom prst="ellipse">
            <a:avLst/>
          </a:prstGeom>
          <a:solidFill>
            <a:srgbClr val="41D6E6"/>
          </a:solidFill>
          <a:ln w="12700">
            <a:solidFill>
              <a:srgbClr val="41D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62456" y="4105656"/>
            <a:ext cx="9720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Compression objective: skip eliminated residues using reusable wheel gaps.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33856" y="4718304"/>
            <a:ext cx="86868" cy="86868"/>
          </a:xfrm>
          <a:prstGeom prst="ellipse">
            <a:avLst/>
          </a:prstGeom>
          <a:solidFill>
            <a:srgbClr val="41D6E6"/>
          </a:solidFill>
          <a:ln w="12700">
            <a:solidFill>
              <a:srgbClr val="41D6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62456" y="4617720"/>
            <a:ext cx="9720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distinction: a surviving wheel residue is a candidate, not proof of primality.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1D6E6"/>
          </a:solidFill>
          <a:ln w="12700">
            <a:solidFill>
              <a:srgbClr val="41D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41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 ATLAS  /  RESEARCH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955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Mathematical Foundations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12648" y="1444752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wheel performs exact elimination by a fixed collection of prime moduli.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37392" y="6483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084832"/>
            <a:ext cx="5212080" cy="640080"/>
          </a:xfrm>
          <a:prstGeom prst="roundRect">
            <a:avLst>
              <a:gd name="adj" fmla="val 17143"/>
            </a:avLst>
          </a:prstGeom>
          <a:solidFill>
            <a:srgbClr val="151E32"/>
          </a:solidFill>
          <a:ln w="12700">
            <a:solidFill>
              <a:srgbClr val="314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194560"/>
            <a:ext cx="4882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41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Wₖ = ∏ⱼ₌₁ᵏ pⱼ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181344" y="2084832"/>
            <a:ext cx="5212080" cy="640080"/>
          </a:xfrm>
          <a:prstGeom prst="roundRect">
            <a:avLst>
              <a:gd name="adj" fmla="val 17143"/>
            </a:avLst>
          </a:prstGeom>
          <a:solidFill>
            <a:srgbClr val="151E32"/>
          </a:solidFill>
          <a:ln w="12700">
            <a:solidFill>
              <a:srgbClr val="3141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5936" y="2194560"/>
            <a:ext cx="4882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1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χₖ(n) = 1{gcd(n,Wₖ)=1}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3127248"/>
            <a:ext cx="10625328" cy="2148840"/>
          </a:xfrm>
          <a:prstGeom prst="roundRect">
            <a:avLst>
              <a:gd name="adj" fmla="val 5106"/>
            </a:avLst>
          </a:prstGeom>
          <a:solidFill>
            <a:srgbClr val="151E32"/>
          </a:solidFill>
          <a:ln w="12700">
            <a:solidFill>
              <a:srgbClr val="3141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3456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BD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discriminator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33272" y="395935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Dₚ(n) = (1/p) Σᵣ₌₀ᵖ⁻¹ exp(2πirn/p)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33272" y="459028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1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χₖ(n) = ∏ⱼ₌₁ᵏ (1 − Dₚⱼ(n))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1D6E6"/>
          </a:solidFill>
          <a:ln w="12700">
            <a:solidFill>
              <a:srgbClr val="41D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41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 ATLAS  /  RESEARCH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955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30-Wheel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12648" y="1444752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Eliminate multiples of 2, 3, and 5; reuse the surviving periodic residue geometry.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37392" y="6483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920240"/>
            <a:ext cx="10607040" cy="585216"/>
          </a:xfrm>
          <a:prstGeom prst="roundRect">
            <a:avLst>
              <a:gd name="adj" fmla="val 18750"/>
            </a:avLst>
          </a:prstGeom>
          <a:solidFill>
            <a:srgbClr val="151E32"/>
          </a:solidFill>
          <a:ln w="12700">
            <a:solidFill>
              <a:srgbClr val="314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029968"/>
            <a:ext cx="10277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1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W₃ = 2 × 3 × 5 = 30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95528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196A56"/>
          </a:solidFill>
          <a:ln w="5715">
            <a:solidFill>
              <a:srgbClr val="66D7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42086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283348"/>
          </a:solidFill>
          <a:ln w="5715">
            <a:solidFill>
              <a:srgbClr val="3141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2086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88643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283348"/>
          </a:solidFill>
          <a:ln w="5715">
            <a:solidFill>
              <a:srgbClr val="3141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88643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35201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283348"/>
          </a:solidFill>
          <a:ln w="5715">
            <a:solidFill>
              <a:srgbClr val="3141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35201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81758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283348"/>
          </a:solidFill>
          <a:ln w="5715">
            <a:solidFill>
              <a:srgbClr val="3141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81758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28316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283348"/>
          </a:solidFill>
          <a:ln w="5715">
            <a:solidFill>
              <a:srgbClr val="3141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8316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74874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196A56"/>
          </a:solidFill>
          <a:ln w="5715">
            <a:solidFill>
              <a:srgbClr val="66D7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74874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21431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283348"/>
          </a:solidFill>
          <a:ln w="5715">
            <a:solidFill>
              <a:srgbClr val="3141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21431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67989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283348"/>
          </a:solidFill>
          <a:ln w="5715">
            <a:solidFill>
              <a:srgbClr val="3141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7989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14546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283348"/>
          </a:solidFill>
          <a:ln w="5715">
            <a:solidFill>
              <a:srgbClr val="3141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14546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61104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196A56"/>
          </a:solidFill>
          <a:ln w="5715">
            <a:solidFill>
              <a:srgbClr val="66D7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61104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07662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283348"/>
          </a:solidFill>
          <a:ln w="5715">
            <a:solidFill>
              <a:srgbClr val="3141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07662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54219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196A56"/>
          </a:solidFill>
          <a:ln w="5715">
            <a:solidFill>
              <a:srgbClr val="66D7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4219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00777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283348"/>
          </a:solidFill>
          <a:ln w="5715">
            <a:solidFill>
              <a:srgbClr val="3141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0777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47334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283348"/>
          </a:solidFill>
          <a:ln w="5715">
            <a:solidFill>
              <a:srgbClr val="3141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47334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93892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283348"/>
          </a:solidFill>
          <a:ln w="5715">
            <a:solidFill>
              <a:srgbClr val="3141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93892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40450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196A56"/>
          </a:solidFill>
          <a:ln w="5715">
            <a:solidFill>
              <a:srgbClr val="66D7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40450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87007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283348"/>
          </a:solidFill>
          <a:ln w="5715">
            <a:solidFill>
              <a:srgbClr val="3141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87007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033565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196A56"/>
          </a:solidFill>
          <a:ln w="5715">
            <a:solidFill>
              <a:srgbClr val="66D7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33565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380122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283348"/>
          </a:solidFill>
          <a:ln w="5715">
            <a:solidFill>
              <a:srgbClr val="3141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80122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726680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283348"/>
          </a:solidFill>
          <a:ln w="5715">
            <a:solidFill>
              <a:srgbClr val="3141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26680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073238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283348"/>
          </a:solidFill>
          <a:ln w="5715">
            <a:solidFill>
              <a:srgbClr val="31415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73238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419795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196A56"/>
          </a:solidFill>
          <a:ln w="5715">
            <a:solidFill>
              <a:srgbClr val="66D7A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19795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766353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283348"/>
          </a:solidFill>
          <a:ln w="5715">
            <a:solidFill>
              <a:srgbClr val="31415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66353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112910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283348"/>
          </a:solidFill>
          <a:ln w="5715">
            <a:solidFill>
              <a:srgbClr val="31415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12910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459468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283348"/>
          </a:solidFill>
          <a:ln w="5715">
            <a:solidFill>
              <a:srgbClr val="31415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459468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806026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283348"/>
          </a:solidFill>
          <a:ln w="5715">
            <a:solidFill>
              <a:srgbClr val="31415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806026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0152583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283348"/>
          </a:solidFill>
          <a:ln w="5715">
            <a:solidFill>
              <a:srgbClr val="31415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152583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10499141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196A56"/>
          </a:solidFill>
          <a:ln w="5715">
            <a:solidFill>
              <a:srgbClr val="66D7A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499141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0845698" y="2944368"/>
            <a:ext cx="333756" cy="502920"/>
          </a:xfrm>
          <a:prstGeom prst="roundRect">
            <a:avLst>
              <a:gd name="adj" fmla="val 10959"/>
            </a:avLst>
          </a:prstGeom>
          <a:solidFill>
            <a:srgbClr val="283348"/>
          </a:solidFill>
          <a:ln w="5715">
            <a:solidFill>
              <a:srgbClr val="31415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845698" y="3072384"/>
            <a:ext cx="3337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68680" y="3950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D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Survivors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2743200" y="39136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1, 7, 11, 13, 17, 19, 23, 29</a:t>
            </a:r>
            <a:endParaRPr lang="en-US" sz="2100" dirty="0"/>
          </a:p>
        </p:txBody>
      </p:sp>
      <p:sp>
        <p:nvSpPr>
          <p:cNvPr id="71" name="Text 69"/>
          <p:cNvSpPr/>
          <p:nvPr/>
        </p:nvSpPr>
        <p:spPr>
          <a:xfrm>
            <a:off x="868680" y="46908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D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Cyclic gaps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2743200" y="46634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6, 4, 2, 4, 2, 4, 6, 2</a:t>
            </a:r>
            <a:endParaRPr lang="en-US" sz="2100" dirty="0"/>
          </a:p>
        </p:txBody>
      </p:sp>
      <p:sp>
        <p:nvSpPr>
          <p:cNvPr id="73" name="Text 71"/>
          <p:cNvSpPr/>
          <p:nvPr/>
        </p:nvSpPr>
        <p:spPr>
          <a:xfrm>
            <a:off x="868680" y="566013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repeated wheel excludes composites containing any of its selected prime factors.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1D6E6"/>
          </a:solidFill>
          <a:ln w="12700">
            <a:solidFill>
              <a:srgbClr val="41D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41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 ATLAS  /  RESEARCH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955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Distance-Guided Navigation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12648" y="1444752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in increasing distance from the target, but visit wheel survivors first.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37392" y="6483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95528" y="1965960"/>
            <a:ext cx="10588752" cy="758952"/>
          </a:xfrm>
          <a:prstGeom prst="roundRect">
            <a:avLst>
              <a:gd name="adj" fmla="val 14458"/>
            </a:avLst>
          </a:prstGeom>
          <a:solidFill>
            <a:srgbClr val="151E32"/>
          </a:solidFill>
          <a:ln w="12700">
            <a:solidFill>
              <a:srgbClr val="314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75688"/>
            <a:ext cx="10259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1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dₖ(x) = min {|n − x| : n ≥ 2, χₖ(n)=1}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95528" y="3054096"/>
            <a:ext cx="10588752" cy="2423160"/>
          </a:xfrm>
          <a:prstGeom prst="roundRect">
            <a:avLst>
              <a:gd name="adj" fmla="val 4528"/>
            </a:avLst>
          </a:prstGeom>
          <a:solidFill>
            <a:srgbClr val="151E32"/>
          </a:solidFill>
          <a:ln w="12700">
            <a:solidFill>
              <a:srgbClr val="3141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8992" y="3474720"/>
            <a:ext cx="86868" cy="86868"/>
          </a:xfrm>
          <a:prstGeom prst="ellipse">
            <a:avLst/>
          </a:prstGeom>
          <a:solidFill>
            <a:srgbClr val="41D6E6"/>
          </a:solidFill>
          <a:ln w="12700">
            <a:solidFill>
              <a:srgbClr val="41D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07592" y="3374136"/>
            <a:ext cx="9720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Locate the target residue x mod Wₖ.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078992" y="3959352"/>
            <a:ext cx="86868" cy="86868"/>
          </a:xfrm>
          <a:prstGeom prst="ellipse">
            <a:avLst/>
          </a:prstGeom>
          <a:solidFill>
            <a:srgbClr val="41D6E6"/>
          </a:solidFill>
          <a:ln w="12700">
            <a:solidFill>
              <a:srgbClr val="41D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07592" y="3858768"/>
            <a:ext cx="9720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Jump left and right using the precomputed cyclic gap sequence.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078992" y="4443984"/>
            <a:ext cx="86868" cy="86868"/>
          </a:xfrm>
          <a:prstGeom prst="ellipse">
            <a:avLst/>
          </a:prstGeom>
          <a:solidFill>
            <a:srgbClr val="41D6E6"/>
          </a:solidFill>
          <a:ln w="12700">
            <a:solidFill>
              <a:srgbClr val="41D6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7592" y="4343400"/>
            <a:ext cx="9720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Certify surviving candidates using additional divisibility tests or a primality test.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078992" y="4928616"/>
            <a:ext cx="86868" cy="86868"/>
          </a:xfrm>
          <a:prstGeom prst="ellipse">
            <a:avLst/>
          </a:prstGeom>
          <a:solidFill>
            <a:srgbClr val="41D6E6"/>
          </a:solidFill>
          <a:ln w="12700">
            <a:solidFill>
              <a:srgbClr val="41D6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07592" y="4828032"/>
            <a:ext cx="97200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at the first certified prime in distance order.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1D6E6"/>
          </a:solidFill>
          <a:ln w="12700">
            <a:solidFill>
              <a:srgbClr val="41D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41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 ATLAS  /  RESEARCH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955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 — Target x = 100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12648" y="1444752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30-wheel reduces the candidate set; final certification identifies the nearest prime.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37392" y="6483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95528" y="2615184"/>
            <a:ext cx="1143000" cy="987552"/>
          </a:xfrm>
          <a:prstGeom prst="roundRect">
            <a:avLst>
              <a:gd name="adj" fmla="val 9259"/>
            </a:avLst>
          </a:prstGeom>
          <a:solidFill>
            <a:srgbClr val="263147"/>
          </a:solidFill>
          <a:ln w="12700">
            <a:solidFill>
              <a:srgbClr val="314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8986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5528" y="376732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66544" y="2615184"/>
            <a:ext cx="1143000" cy="987552"/>
          </a:xfrm>
          <a:prstGeom prst="roundRect">
            <a:avLst>
              <a:gd name="adj" fmla="val 9259"/>
            </a:avLst>
          </a:prstGeom>
          <a:solidFill>
            <a:srgbClr val="263147"/>
          </a:solidFill>
          <a:ln w="12700">
            <a:solidFill>
              <a:srgbClr val="3141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66544" y="28986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66544" y="376732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2615184"/>
            <a:ext cx="1143000" cy="987552"/>
          </a:xfrm>
          <a:prstGeom prst="roundRect">
            <a:avLst>
              <a:gd name="adj" fmla="val 9259"/>
            </a:avLst>
          </a:prstGeom>
          <a:solidFill>
            <a:srgbClr val="176A55"/>
          </a:solidFill>
          <a:ln w="12700">
            <a:solidFill>
              <a:srgbClr val="3141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8986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37560" y="376732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D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08576" y="2615184"/>
            <a:ext cx="1143000" cy="987552"/>
          </a:xfrm>
          <a:prstGeom prst="roundRect">
            <a:avLst>
              <a:gd name="adj" fmla="val 9259"/>
            </a:avLst>
          </a:prstGeom>
          <a:solidFill>
            <a:srgbClr val="263147"/>
          </a:solidFill>
          <a:ln w="12700">
            <a:solidFill>
              <a:srgbClr val="314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28986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08576" y="376732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79592" y="2615184"/>
            <a:ext cx="1143000" cy="987552"/>
          </a:xfrm>
          <a:prstGeom prst="roundRect">
            <a:avLst>
              <a:gd name="adj" fmla="val 9259"/>
            </a:avLst>
          </a:prstGeom>
          <a:solidFill>
            <a:srgbClr val="37445E"/>
          </a:solidFill>
          <a:ln w="12700">
            <a:solidFill>
              <a:srgbClr val="3141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9592" y="28986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879592" y="376732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BD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50608" y="2615184"/>
            <a:ext cx="1143000" cy="987552"/>
          </a:xfrm>
          <a:prstGeom prst="roundRect">
            <a:avLst>
              <a:gd name="adj" fmla="val 9259"/>
            </a:avLst>
          </a:prstGeom>
          <a:solidFill>
            <a:srgbClr val="176A55"/>
          </a:solidFill>
          <a:ln w="33020">
            <a:solidFill>
              <a:srgbClr val="F2BD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0608" y="28986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150608" y="376732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D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421624" y="2615184"/>
            <a:ext cx="1143000" cy="987552"/>
          </a:xfrm>
          <a:prstGeom prst="roundRect">
            <a:avLst>
              <a:gd name="adj" fmla="val 9259"/>
            </a:avLst>
          </a:prstGeom>
          <a:solidFill>
            <a:srgbClr val="176A55"/>
          </a:solidFill>
          <a:ln w="12700">
            <a:solidFill>
              <a:srgbClr val="3141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21624" y="28986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421624" y="376732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D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692640" y="2615184"/>
            <a:ext cx="1143000" cy="987552"/>
          </a:xfrm>
          <a:prstGeom prst="roundRect">
            <a:avLst>
              <a:gd name="adj" fmla="val 9259"/>
            </a:avLst>
          </a:prstGeom>
          <a:solidFill>
            <a:srgbClr val="176A55"/>
          </a:solidFill>
          <a:ln w="12700">
            <a:solidFill>
              <a:srgbClr val="3141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0" y="28986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692640" y="376732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D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963656" y="2615184"/>
            <a:ext cx="1143000" cy="987552"/>
          </a:xfrm>
          <a:prstGeom prst="roundRect">
            <a:avLst>
              <a:gd name="adj" fmla="val 9259"/>
            </a:avLst>
          </a:prstGeom>
          <a:solidFill>
            <a:srgbClr val="176A55"/>
          </a:solidFill>
          <a:ln w="12700">
            <a:solidFill>
              <a:srgbClr val="3141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63656" y="289864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109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0963656" y="376732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D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50976" y="4828032"/>
            <a:ext cx="10287000" cy="749808"/>
          </a:xfrm>
          <a:prstGeom prst="roundRect">
            <a:avLst>
              <a:gd name="adj" fmla="val 14634"/>
            </a:avLst>
          </a:prstGeom>
          <a:solidFill>
            <a:srgbClr val="151E32"/>
          </a:solidFill>
          <a:ln w="12700">
            <a:solidFill>
              <a:srgbClr val="3141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5568" y="4937760"/>
            <a:ext cx="99578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1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p*(100) = 101;     d(100) = 1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1D6E6"/>
          </a:solidFill>
          <a:ln w="12700">
            <a:solidFill>
              <a:srgbClr val="41D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41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 ATLAS  /  RESEARCH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955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Exactness and Limitations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12648" y="1444752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wheel filter is exact, but primality requires sufficient depth.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37392" y="6483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3816" y="2057400"/>
            <a:ext cx="10515600" cy="731520"/>
          </a:xfrm>
          <a:prstGeom prst="roundRect">
            <a:avLst>
              <a:gd name="adj" fmla="val 15000"/>
            </a:avLst>
          </a:prstGeom>
          <a:solidFill>
            <a:srgbClr val="151E32"/>
          </a:solidFill>
          <a:ln w="12700">
            <a:solidFill>
              <a:srgbClr val="314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167128"/>
            <a:ext cx="10186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1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prime ⇔ χπ(√n)(n) = 1    (n ≥ 2)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822960" y="3090672"/>
            <a:ext cx="5056632" cy="2057400"/>
          </a:xfrm>
          <a:prstGeom prst="roundRect">
            <a:avLst>
              <a:gd name="adj" fmla="val 5333"/>
            </a:avLst>
          </a:prstGeom>
          <a:solidFill>
            <a:srgbClr val="151E32"/>
          </a:solidFill>
          <a:ln w="12700">
            <a:solidFill>
              <a:srgbClr val="3141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383280"/>
            <a:ext cx="457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D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guaranteed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4041648"/>
            <a:ext cx="86868" cy="86868"/>
          </a:xfrm>
          <a:prstGeom prst="ellipse">
            <a:avLst/>
          </a:prstGeom>
          <a:solidFill>
            <a:srgbClr val="41D6E6"/>
          </a:solidFill>
          <a:ln w="12700">
            <a:solidFill>
              <a:srgbClr val="41D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3941064"/>
            <a:ext cx="4261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Elimination by selected primes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7280" y="4480560"/>
            <a:ext cx="86868" cy="86868"/>
          </a:xfrm>
          <a:prstGeom prst="ellipse">
            <a:avLst/>
          </a:prstGeom>
          <a:solidFill>
            <a:srgbClr val="41D6E6"/>
          </a:solidFill>
          <a:ln w="12700">
            <a:solidFill>
              <a:srgbClr val="41D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5880" y="4379976"/>
            <a:ext cx="4261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Periodic candidate jumps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4919472"/>
            <a:ext cx="86868" cy="86868"/>
          </a:xfrm>
          <a:prstGeom prst="ellipse">
            <a:avLst/>
          </a:prstGeom>
          <a:solidFill>
            <a:srgbClr val="41D6E6"/>
          </a:solidFill>
          <a:ln w="12700">
            <a:solidFill>
              <a:srgbClr val="41D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4818888"/>
            <a:ext cx="4261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Correctness after certification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62472" y="3090672"/>
            <a:ext cx="5303520" cy="2057400"/>
          </a:xfrm>
          <a:prstGeom prst="roundRect">
            <a:avLst>
              <a:gd name="adj" fmla="val 5333"/>
            </a:avLst>
          </a:prstGeom>
          <a:solidFill>
            <a:srgbClr val="151E32"/>
          </a:solidFill>
          <a:ln w="12700">
            <a:solidFill>
              <a:srgbClr val="3141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3383280"/>
            <a:ext cx="4572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8D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not guaranteed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327648" y="4041648"/>
            <a:ext cx="86868" cy="86868"/>
          </a:xfrm>
          <a:prstGeom prst="ellipse">
            <a:avLst/>
          </a:prstGeom>
          <a:solidFill>
            <a:srgbClr val="41D6E6"/>
          </a:solidFill>
          <a:ln w="12700">
            <a:solidFill>
              <a:srgbClr val="41D6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3941064"/>
            <a:ext cx="4443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survivor must be prime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27648" y="4480560"/>
            <a:ext cx="86868" cy="86868"/>
          </a:xfrm>
          <a:prstGeom prst="ellipse">
            <a:avLst/>
          </a:prstGeom>
          <a:solidFill>
            <a:srgbClr val="41D6E6"/>
          </a:solidFill>
          <a:ln w="12700">
            <a:solidFill>
              <a:srgbClr val="41D6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4379976"/>
            <a:ext cx="4443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uniform nearest-prime distance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27648" y="4919472"/>
            <a:ext cx="86868" cy="86868"/>
          </a:xfrm>
          <a:prstGeom prst="ellipse">
            <a:avLst/>
          </a:prstGeom>
          <a:solidFill>
            <a:srgbClr val="41D6E6"/>
          </a:solidFill>
          <a:ln w="12700">
            <a:solidFill>
              <a:srgbClr val="41D6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56248" y="4818888"/>
            <a:ext cx="4443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faster asymptotic algorithm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1D6E6"/>
          </a:solidFill>
          <a:ln w="12700">
            <a:solidFill>
              <a:srgbClr val="41D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41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 ATLAS  /  RESEARCH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955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Protocol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12648" y="1444752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compressed wheel navigation with conventional nearest-prime search.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37392" y="6483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1938528"/>
            <a:ext cx="2185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1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55264" y="193852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1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selection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748272" y="1938528"/>
            <a:ext cx="4562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1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Certification / cost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2542032"/>
            <a:ext cx="10607040" cy="704088"/>
          </a:xfrm>
          <a:prstGeom prst="roundRect">
            <a:avLst>
              <a:gd name="adj" fmla="val 7792"/>
            </a:avLst>
          </a:prstGeom>
          <a:solidFill>
            <a:srgbClr val="151E32"/>
          </a:solidFill>
          <a:ln w="6350">
            <a:solidFill>
              <a:srgbClr val="3141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71576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64408" y="2715768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Consecutive integers by distance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57416" y="2715768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Primality tests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3374136"/>
            <a:ext cx="10607040" cy="704088"/>
          </a:xfrm>
          <a:prstGeom prst="roundRect">
            <a:avLst>
              <a:gd name="adj" fmla="val 7792"/>
            </a:avLst>
          </a:prstGeom>
          <a:solidFill>
            <a:srgbClr val="10182A"/>
          </a:solidFill>
          <a:ln w="6350">
            <a:solidFill>
              <a:srgbClr val="3141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54787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Wheel navigation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64408" y="3547872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Periodic survivor-gap jumps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57416" y="3547872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Primality tests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7240" y="4206240"/>
            <a:ext cx="10607040" cy="704088"/>
          </a:xfrm>
          <a:prstGeom prst="roundRect">
            <a:avLst>
              <a:gd name="adj" fmla="val 7792"/>
            </a:avLst>
          </a:prstGeom>
          <a:solidFill>
            <a:srgbClr val="151E32"/>
          </a:solidFill>
          <a:ln w="6350">
            <a:solidFill>
              <a:srgbClr val="3141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37997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64408" y="4379976"/>
            <a:ext cx="3282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Pre-sieve + adaptive checks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57416" y="4379976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bit cost incl. setup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3816" y="5404104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BD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Measure: tested candidates, wall-clock time, preprocessing, peak memory, and correctness.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1D6E6"/>
          </a:solidFill>
          <a:ln w="12700">
            <a:solidFill>
              <a:srgbClr val="41D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41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 ATLAS  /  RESEARCH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955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Hypothesis and Decision Criterion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12648" y="1444752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formal target for the next stage of the Prime Atlas compression program.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37392" y="6483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3816" y="2066544"/>
            <a:ext cx="10561320" cy="694944"/>
          </a:xfrm>
          <a:prstGeom prst="roundRect">
            <a:avLst>
              <a:gd name="adj" fmla="val 15789"/>
            </a:avLst>
          </a:prstGeom>
          <a:solidFill>
            <a:srgbClr val="151E32"/>
          </a:solidFill>
          <a:ln w="12700">
            <a:solidFill>
              <a:srgbClr val="314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2176272"/>
            <a:ext cx="10232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1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Ttotal = Tpreprocess + Tnavigation + Tcertification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13816" y="3118104"/>
            <a:ext cx="10561320" cy="1965960"/>
          </a:xfrm>
          <a:prstGeom prst="roundRect">
            <a:avLst>
              <a:gd name="adj" fmla="val 5581"/>
            </a:avLst>
          </a:prstGeom>
          <a:solidFill>
            <a:srgbClr val="151E32"/>
          </a:solidFill>
          <a:ln w="12700">
            <a:solidFill>
              <a:srgbClr val="3141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8136" y="3410712"/>
            <a:ext cx="10012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1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88136" y="3941064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wheel-gap geometry may reduce the number of candidate examinations near a target x, potentially improving practical performance for repeated queries.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2960" y="5751576"/>
            <a:ext cx="10607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BD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computational breakthrough requires end-to-end improvement against appropriate baselines, not merely fewer visited integers.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41D6E6"/>
          </a:solidFill>
          <a:ln w="12700">
            <a:solidFill>
              <a:srgbClr val="41D6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834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41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 ATLAS  /  RESEARCH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955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12648" y="1444752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prime wheel is an exact modular candidate navigator.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37392" y="6483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58952" y="2267712"/>
            <a:ext cx="10671048" cy="822960"/>
          </a:xfrm>
          <a:prstGeom prst="roundRect">
            <a:avLst>
              <a:gd name="adj" fmla="val 13333"/>
            </a:avLst>
          </a:prstGeom>
          <a:solidFill>
            <a:srgbClr val="151E32"/>
          </a:solidFill>
          <a:ln w="12700">
            <a:solidFill>
              <a:srgbClr val="3141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2377440"/>
            <a:ext cx="10341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1D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Wheel geometry  →  distance search  →  prime certification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77240" y="3511296"/>
            <a:ext cx="10634472" cy="1600200"/>
          </a:xfrm>
          <a:prstGeom prst="roundRect">
            <a:avLst>
              <a:gd name="adj" fmla="val 6857"/>
            </a:avLst>
          </a:prstGeom>
          <a:solidFill>
            <a:srgbClr val="151E32"/>
          </a:solidFill>
          <a:ln w="12700">
            <a:solidFill>
              <a:srgbClr val="3141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37307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D7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108960" y="37307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modular filtering and periodic gap navigation.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24128" y="433425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BD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Unresolved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108960" y="433425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F4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provable speedup for locating the nearest prime.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95528" y="60990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5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 ATLAS  •  Distance-Guided Compression Program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 ATLAS — Distance-Guided Prime Search</dc:title>
  <dc:subject>Prime Atlas: Distance-Guided Prime Search</dc:subject>
  <dc:creator>OpenAI</dc:creator>
  <cp:lastModifiedBy>OpenAI</cp:lastModifiedBy>
  <cp:revision>1</cp:revision>
  <dcterms:created xsi:type="dcterms:W3CDTF">2026-10-18T19:31:12Z</dcterms:created>
  <dcterms:modified xsi:type="dcterms:W3CDTF">2026-10-18T19:31:12Z</dcterms:modified>
</cp:coreProperties>
</file>